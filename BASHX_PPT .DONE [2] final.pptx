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1" r:id="rId11"/>
    <p:sldId id="269" r:id="rId12"/>
    <p:sldId id="272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" id="{CCDA86D8-AE25-9B73-47CF-CE3F429AABB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73"/>
            <p14:sldId id="271"/>
            <p14:sldId id="269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54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front slide for all teams. Replace the title, team name, student names and roll numbers. Keep the logo, department and year/semester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" y="3882120"/>
            <a:ext cx="8730234" cy="63412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735" y="4485132"/>
            <a:ext cx="8709660" cy="3977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665" y="200025"/>
            <a:ext cx="8737092" cy="3640361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4793743"/>
            <a:ext cx="2104054" cy="24785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03386" y="4793743"/>
            <a:ext cx="2620736" cy="247850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4793743"/>
            <a:ext cx="321905" cy="24785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185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3687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5197" y="156566"/>
            <a:ext cx="3049554" cy="279445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75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1547" y="3634740"/>
            <a:ext cx="3049554" cy="103555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740" y="200025"/>
            <a:ext cx="5429249" cy="4742168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9861" y="4793742"/>
            <a:ext cx="2027833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8125" y="4793742"/>
            <a:ext cx="774063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2188" y="4791628"/>
            <a:ext cx="342900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795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949" y="1147157"/>
            <a:ext cx="6116103" cy="1742912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3036" y="3040128"/>
            <a:ext cx="4477928" cy="80450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01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97" y="2400300"/>
            <a:ext cx="6752171" cy="2686638"/>
          </a:xfrm>
        </p:spPr>
        <p:txBody>
          <a:bodyPr anchor="b">
            <a:normAutofit/>
          </a:bodyPr>
          <a:lstStyle>
            <a:lvl1pPr>
              <a:defRPr sz="517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028" y="105912"/>
            <a:ext cx="2027833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8125" y="105912"/>
            <a:ext cx="774063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2188" y="105912"/>
            <a:ext cx="342900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47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62" y="142267"/>
            <a:ext cx="8506429" cy="1222114"/>
          </a:xfrm>
        </p:spPr>
        <p:txBody>
          <a:bodyPr anchor="t">
            <a:normAutofit/>
          </a:bodyPr>
          <a:lstStyle>
            <a:lvl1pPr>
              <a:defRPr sz="57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1771650"/>
            <a:ext cx="4371975" cy="2857500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200" dirty="0"/>
            </a:lvl1pPr>
            <a:lvl2pPr marL="428625" indent="-257175">
              <a:buFont typeface="+mj-lt"/>
              <a:buAutoNum type="arabicPeriod"/>
              <a:defRPr lang="en-US" sz="1200" dirty="0"/>
            </a:lvl2pPr>
            <a:lvl3pPr marL="600075" indent="-257175">
              <a:buFont typeface="+mj-lt"/>
              <a:buAutoNum type="arabicPeriod"/>
              <a:defRPr lang="en-US" sz="1200" dirty="0"/>
            </a:lvl3pPr>
            <a:lvl4pPr>
              <a:buFont typeface="+mj-lt"/>
              <a:buAutoNum type="arabicPeriod"/>
              <a:defRPr lang="en-US" sz="12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50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3046397"/>
            <a:ext cx="4434840" cy="1701269"/>
          </a:xfrm>
        </p:spPr>
        <p:txBody>
          <a:bodyPr anchor="t">
            <a:normAutofit/>
          </a:bodyPr>
          <a:lstStyle>
            <a:lvl1pPr>
              <a:defRPr sz="43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5740" y="201381"/>
            <a:ext cx="8737092" cy="2706814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6980" y="3029338"/>
            <a:ext cx="3314701" cy="1701270"/>
          </a:xfr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buFont typeface="+mj-lt"/>
              <a:buAutoNum type="arabicPeriod"/>
              <a:defRPr lang="en-US" sz="1050" dirty="0"/>
            </a:lvl1pPr>
            <a:lvl2pPr marL="428625" indent="-257175">
              <a:buFont typeface="+mj-lt"/>
              <a:buAutoNum type="arabicPeriod"/>
              <a:defRPr lang="en-US" sz="1050" dirty="0"/>
            </a:lvl2pPr>
            <a:lvl3pPr marL="600075" indent="-257175">
              <a:buFont typeface="+mj-lt"/>
              <a:buAutoNum type="arabicPeriod"/>
              <a:defRPr lang="en-US" sz="1050" dirty="0"/>
            </a:lvl3pPr>
            <a:lvl4pPr>
              <a:buFont typeface="+mj-lt"/>
              <a:buAutoNum type="arabicPeriod"/>
              <a:defRPr lang="en-US" sz="1050" dirty="0"/>
            </a:lvl4pPr>
            <a:lvl5pPr>
              <a:buFont typeface="+mj-lt"/>
              <a:buAutoNum type="arabicPeriod"/>
              <a:defRPr lang="en-US" sz="1050" dirty="0"/>
            </a:lvl5pPr>
          </a:lstStyle>
          <a:p>
            <a:pPr marL="171450" lvl="0" indent="-171450"/>
            <a:r>
              <a:rPr lang="en-US"/>
              <a:t>Click to edit Master text styles</a:t>
            </a:r>
          </a:p>
          <a:p>
            <a:pPr marL="171450" lvl="1" indent="-171450"/>
            <a:r>
              <a:rPr lang="en-US"/>
              <a:t>Second level</a:t>
            </a:r>
          </a:p>
          <a:p>
            <a:pPr marL="171450" lvl="2" indent="-171450"/>
            <a:r>
              <a:rPr lang="en-US"/>
              <a:t>Third level</a:t>
            </a:r>
          </a:p>
          <a:p>
            <a:pPr marL="171450" lvl="3" indent="-171450"/>
            <a:r>
              <a:rPr lang="en-US"/>
              <a:t>Fourth level</a:t>
            </a:r>
          </a:p>
          <a:p>
            <a:pPr marL="171450" lvl="4" indent="-17145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4790803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33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848" y="1228724"/>
            <a:ext cx="2486025" cy="2904951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5764" y="1228725"/>
            <a:ext cx="4560570" cy="29049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062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3"/>
            <a:ext cx="2482796" cy="3043595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9506" y="200025"/>
            <a:ext cx="5766371" cy="45358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2317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44" y="164592"/>
            <a:ext cx="4782410" cy="79950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740" y="201430"/>
            <a:ext cx="3314700" cy="4744477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89644" y="964097"/>
            <a:ext cx="4782410" cy="373976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9645" y="4790803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8985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527" y="164592"/>
            <a:ext cx="5430973" cy="6926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740" y="201430"/>
            <a:ext cx="2756916" cy="4745736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41526" y="857250"/>
            <a:ext cx="5430974" cy="392963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1527" y="4787236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947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2"/>
            <a:ext cx="5430973" cy="6926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857250"/>
            <a:ext cx="5430974" cy="392963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4787236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070" y="4790346"/>
            <a:ext cx="77406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8133" y="4790346"/>
            <a:ext cx="342900" cy="253746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7059" y="201430"/>
            <a:ext cx="2756916" cy="4745736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58268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92" y="164592"/>
            <a:ext cx="3538072" cy="88566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9392" y="1050258"/>
            <a:ext cx="3546784" cy="365360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91129" y="4793096"/>
            <a:ext cx="974088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65217" y="4793096"/>
            <a:ext cx="34290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0528" y="200025"/>
            <a:ext cx="4743352" cy="474345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34180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65652"/>
            <a:ext cx="2406015" cy="231647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14725" y="200025"/>
            <a:ext cx="2625404" cy="474345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5815" y="165652"/>
            <a:ext cx="2400300" cy="454166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1773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317" y="164593"/>
            <a:ext cx="2918576" cy="9190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2855" y="198882"/>
            <a:ext cx="5238477" cy="4745736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5315" y="1076739"/>
            <a:ext cx="2918576" cy="3625397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6310" y="4790346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6680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90" y="164592"/>
            <a:ext cx="2426237" cy="118291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9390" y="1347506"/>
            <a:ext cx="2426237" cy="335360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029" y="4790346"/>
            <a:ext cx="1571828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4812" y="4793096"/>
            <a:ext cx="77406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28875" y="4793096"/>
            <a:ext cx="342900" cy="253746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74338" y="198882"/>
            <a:ext cx="5969638" cy="4745736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540202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09" y="162339"/>
            <a:ext cx="2536190" cy="1660143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71800" y="133119"/>
            <a:ext cx="5972175" cy="1714500"/>
          </a:xfrm>
        </p:spPr>
        <p:txBody>
          <a:bodyPr>
            <a:normAutofit/>
          </a:bodyPr>
          <a:lstStyle>
            <a:lvl1pPr marL="214313" indent="-214313">
              <a:buFont typeface="Arial" panose="020B0604020202020204" pitchFamily="34" charset="0"/>
              <a:buChar char="•"/>
              <a:defRPr sz="1050"/>
            </a:lvl1pPr>
            <a:lvl2pPr marL="385763" indent="-214313">
              <a:buFont typeface="Arial" panose="020B0604020202020204" pitchFamily="34" charset="0"/>
              <a:buChar char="•"/>
              <a:defRPr sz="1050"/>
            </a:lvl2pPr>
            <a:lvl3pPr marL="557213" indent="-214313">
              <a:buFont typeface="Arial" panose="020B0604020202020204" pitchFamily="34" charset="0"/>
              <a:buChar char="•"/>
              <a:defRPr sz="1050"/>
            </a:lvl3pPr>
            <a:lvl4pPr marL="642938" indent="-128588">
              <a:buFont typeface="Arial" panose="020B0604020202020204" pitchFamily="34" charset="0"/>
              <a:buChar char="•"/>
              <a:defRPr sz="1050"/>
            </a:lvl4pPr>
            <a:lvl5pPr marL="814388" indent="-128588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409" y="1885098"/>
            <a:ext cx="2104054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2754" y="1887183"/>
            <a:ext cx="963008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2189" y="1885098"/>
            <a:ext cx="336980" cy="253746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665" y="2201460"/>
            <a:ext cx="8738310" cy="2742015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92738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3"/>
            <a:ext cx="2379481" cy="2358764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000375" y="198999"/>
            <a:ext cx="5943600" cy="2321878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35924" y="2657698"/>
            <a:ext cx="6008051" cy="2132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3218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866" y="570114"/>
            <a:ext cx="7296269" cy="3175255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07" y="3941369"/>
            <a:ext cx="6974586" cy="768995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1800" spc="-38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4707" y="969819"/>
            <a:ext cx="6974586" cy="295794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19500" spc="-75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833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7161" y="130303"/>
            <a:ext cx="7856624" cy="363798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5700" b="0" cap="none" spc="-38" baseline="0"/>
            </a:lvl1pPr>
            <a:lvl2pPr marL="171450" indent="0">
              <a:lnSpc>
                <a:spcPct val="90000"/>
              </a:lnSpc>
              <a:buNone/>
              <a:defRPr sz="4950" b="0" cap="none" spc="-38" baseline="0"/>
            </a:lvl2pPr>
            <a:lvl3pPr marL="342900" indent="0">
              <a:lnSpc>
                <a:spcPct val="90000"/>
              </a:lnSpc>
              <a:buNone/>
              <a:defRPr sz="4500" b="0" cap="none" spc="-38" baseline="0"/>
            </a:lvl3pPr>
            <a:lvl4pPr marL="514350" indent="0">
              <a:lnSpc>
                <a:spcPct val="90000"/>
              </a:lnSpc>
              <a:buNone/>
              <a:defRPr sz="4050" b="0" cap="none" spc="-38" baseline="0"/>
            </a:lvl4pPr>
            <a:lvl5pPr marL="685800" indent="0">
              <a:lnSpc>
                <a:spcPct val="90000"/>
              </a:lnSpc>
              <a:buNone/>
              <a:defRPr sz="3600" b="0" cap="none" spc="-38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2428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1588" y="3771900"/>
            <a:ext cx="6899148" cy="534924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500" b="1" spc="-38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41588" y="836676"/>
            <a:ext cx="6899148" cy="2688336"/>
          </a:xfrm>
        </p:spPr>
        <p:txBody>
          <a:bodyPr anchor="ctr">
            <a:normAutofit/>
          </a:bodyPr>
          <a:lstStyle>
            <a:lvl1pPr marL="102870" indent="-10287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750" spc="-38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08565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2"/>
            <a:ext cx="8495028" cy="7811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7160" y="1234440"/>
            <a:ext cx="4065307" cy="3556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86300" y="1234440"/>
            <a:ext cx="3945888" cy="3556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25929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90" y="164593"/>
            <a:ext cx="8455914" cy="5923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889" y="756980"/>
            <a:ext cx="390906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6223" y="1237088"/>
            <a:ext cx="3909060" cy="3257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84014" y="756980"/>
            <a:ext cx="390906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84014" y="1237088"/>
            <a:ext cx="3909060" cy="3257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2606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9484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64991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96" y="155421"/>
            <a:ext cx="8251457" cy="1343025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646" y="2448306"/>
            <a:ext cx="7610708" cy="21259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3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685" y="816935"/>
            <a:ext cx="4770630" cy="1628787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92148" y="2624910"/>
            <a:ext cx="4157663" cy="132873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200" dirty="0"/>
            </a:lvl1pPr>
            <a:lvl2pPr marL="171450" indent="0" algn="ctr">
              <a:buNone/>
              <a:defRPr lang="en-US" sz="1200" dirty="0"/>
            </a:lvl2pPr>
            <a:lvl3pPr marL="342900" indent="0" algn="ctr">
              <a:buNone/>
              <a:defRPr lang="en-US" sz="1200" dirty="0"/>
            </a:lvl3pPr>
            <a:lvl4pPr marL="514350" indent="0" algn="ctr">
              <a:buNone/>
              <a:defRPr lang="en-US" sz="1200" dirty="0"/>
            </a:lvl4pPr>
            <a:lvl5pPr marL="685800" indent="0" algn="ctr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300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RO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8710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2"/>
            <a:ext cx="8126730" cy="7269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" y="887404"/>
            <a:ext cx="8126730" cy="3816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4028" y="4790346"/>
            <a:ext cx="2027833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3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58125" y="4790346"/>
            <a:ext cx="774063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2188" y="4790346"/>
            <a:ext cx="342900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7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  <p:sldLayoutId id="2147483869" r:id="rId18"/>
    <p:sldLayoutId id="2147483870" r:id="rId19"/>
    <p:sldLayoutId id="2147483871" r:id="rId20"/>
    <p:sldLayoutId id="2147483872" r:id="rId21"/>
    <p:sldLayoutId id="2147483873" r:id="rId22"/>
    <p:sldLayoutId id="2147483874" r:id="rId23"/>
    <p:sldLayoutId id="2147483875" r:id="rId24"/>
    <p:sldLayoutId id="2147483876" r:id="rId25"/>
    <p:sldLayoutId id="2147483877" r:id="rId26"/>
    <p:sldLayoutId id="2147483878" r:id="rId27"/>
    <p:sldLayoutId id="2147483879" r:id="rId28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250" b="0" kern="1200" spc="-75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13" indent="-214313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214313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57213" indent="-214313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28663" indent="-214313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00113" indent="-214313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L logo" descr="KL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2194560" cy="1057523"/>
          </a:xfrm>
          <a:prstGeom prst="rect">
            <a:avLst/>
          </a:prstGeom>
        </p:spPr>
      </p:pic>
      <p:sp>
        <p:nvSpPr>
          <p:cNvPr id="3" name="Chip Dept. of CSA – BCA"/>
          <p:cNvSpPr/>
          <p:nvPr/>
        </p:nvSpPr>
        <p:spPr>
          <a:xfrm>
            <a:off x="6400800" y="411480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Chip text Dept. of CSA – BCA"/>
          <p:cNvSpPr txBox="1"/>
          <p:nvPr/>
        </p:nvSpPr>
        <p:spPr>
          <a:xfrm>
            <a:off x="6400800" y="411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Dept. of CSA – BCA</a:t>
            </a:r>
            <a:endParaRPr lang="en-US" sz="1400" dirty="0"/>
          </a:p>
        </p:txBody>
      </p:sp>
      <p:sp>
        <p:nvSpPr>
          <p:cNvPr id="5" name="Chip I Year – I Semester"/>
          <p:cNvSpPr/>
          <p:nvPr/>
        </p:nvSpPr>
        <p:spPr>
          <a:xfrm>
            <a:off x="6400800" y="886968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Chip text I Year – I Semester"/>
          <p:cNvSpPr txBox="1"/>
          <p:nvPr/>
        </p:nvSpPr>
        <p:spPr>
          <a:xfrm>
            <a:off x="6400800" y="886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 Year – I Semester</a:t>
            </a: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/>
          </p:nvPr>
        </p:nvSpPr>
        <p:spPr>
          <a:xfrm>
            <a:off x="518160" y="1446209"/>
            <a:ext cx="7002780" cy="12787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0000"/>
          </a:bodyPr>
          <a:lstStyle/>
          <a:p>
            <a:r>
              <a:rPr lang="en-US" dirty="0"/>
              <a:t>Automated Log Analysis and Error Alert System Using Bash Shell Scripting !</a:t>
            </a:r>
            <a:endParaRPr lang="en-US" sz="3800" dirty="0"/>
          </a:p>
        </p:txBody>
      </p:sp>
      <p:sp>
        <p:nvSpPr>
          <p:cNvPr id="8" name="Team name pill"/>
          <p:cNvSpPr/>
          <p:nvPr/>
        </p:nvSpPr>
        <p:spPr>
          <a:xfrm>
            <a:off x="2424684" y="2611853"/>
            <a:ext cx="4828032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9" name="Team name text"/>
          <p:cNvSpPr txBox="1"/>
          <p:nvPr/>
        </p:nvSpPr>
        <p:spPr>
          <a:xfrm>
            <a:off x="2005965" y="2181406"/>
            <a:ext cx="5170932" cy="1278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Team Name: BASHX</a:t>
            </a:r>
            <a:endParaRPr lang="en-US" sz="1600" dirty="0"/>
          </a:p>
        </p:txBody>
      </p:sp>
      <p:sp>
        <p:nvSpPr>
          <p:cNvPr id="10" name="Student card 1"/>
          <p:cNvSpPr/>
          <p:nvPr/>
        </p:nvSpPr>
        <p:spPr>
          <a:xfrm>
            <a:off x="460248" y="3149030"/>
            <a:ext cx="4127754" cy="1890073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</a:t>
            </a:r>
            <a:r>
              <a:rPr lang="en-US" b="1" dirty="0"/>
              <a:t>DRMAGUNJ SHROOTHY</a:t>
            </a:r>
          </a:p>
          <a:p>
            <a:r>
              <a:rPr lang="en-US" b="1" dirty="0"/>
              <a:t>               </a:t>
            </a:r>
            <a:r>
              <a:rPr lang="en-US" sz="1600" dirty="0" err="1"/>
              <a:t>R.No</a:t>
            </a:r>
            <a:r>
              <a:rPr lang="en-US" sz="1600" dirty="0"/>
              <a:t>: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[2610520031]</a:t>
            </a:r>
          </a:p>
          <a:p>
            <a:endParaRPr lang="en-US" dirty="0"/>
          </a:p>
        </p:txBody>
      </p:sp>
      <p:sp>
        <p:nvSpPr>
          <p:cNvPr id="11" name="Student icon badge 1"/>
          <p:cNvSpPr/>
          <p:nvPr/>
        </p:nvSpPr>
        <p:spPr>
          <a:xfrm>
            <a:off x="709422" y="332765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tudent icon 1" descr="Student icon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0" y="3473882"/>
            <a:ext cx="237744" cy="237744"/>
          </a:xfrm>
          <a:prstGeom prst="rect">
            <a:avLst/>
          </a:prstGeom>
        </p:spPr>
      </p:pic>
      <p:sp>
        <p:nvSpPr>
          <p:cNvPr id="13" name="Student name 1"/>
          <p:cNvSpPr txBox="1"/>
          <p:nvPr/>
        </p:nvSpPr>
        <p:spPr>
          <a:xfrm>
            <a:off x="1487424" y="3288012"/>
            <a:ext cx="2926080" cy="42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SAFA SABER</a:t>
            </a:r>
            <a:endParaRPr lang="en-US" sz="1800" dirty="0"/>
          </a:p>
        </p:txBody>
      </p:sp>
      <p:sp>
        <p:nvSpPr>
          <p:cNvPr id="14" name="Roll number 1"/>
          <p:cNvSpPr txBox="1"/>
          <p:nvPr/>
        </p:nvSpPr>
        <p:spPr>
          <a:xfrm>
            <a:off x="1464564" y="35844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R.No</a:t>
            </a:r>
            <a:r>
              <a:rPr lang="en-US" sz="1600" dirty="0"/>
              <a:t>: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[2610520003]</a:t>
            </a:r>
          </a:p>
        </p:txBody>
      </p:sp>
      <p:sp>
        <p:nvSpPr>
          <p:cNvPr id="15" name="Student card 2"/>
          <p:cNvSpPr/>
          <p:nvPr/>
        </p:nvSpPr>
        <p:spPr>
          <a:xfrm>
            <a:off x="4754880" y="3155542"/>
            <a:ext cx="4210050" cy="1888898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r>
              <a:rPr lang="en-US" dirty="0"/>
              <a:t>                            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b="1" dirty="0"/>
              <a:t>ANDULA CHARAN </a:t>
            </a:r>
          </a:p>
          <a:p>
            <a:r>
              <a:rPr lang="en-US" b="1" dirty="0"/>
              <a:t>             KISHORE READDY </a:t>
            </a:r>
          </a:p>
          <a:p>
            <a:r>
              <a:rPr lang="en-US" b="1" dirty="0"/>
              <a:t>            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</a:rPr>
              <a:t>R.No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: [2610520047]</a:t>
            </a:r>
          </a:p>
        </p:txBody>
      </p:sp>
      <p:sp>
        <p:nvSpPr>
          <p:cNvPr id="16" name="Student icon badge 2"/>
          <p:cNvSpPr/>
          <p:nvPr/>
        </p:nvSpPr>
        <p:spPr>
          <a:xfrm>
            <a:off x="4794504" y="325450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udent icon 2" descr="Student icon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43094" y="3387089"/>
            <a:ext cx="237744" cy="237744"/>
          </a:xfrm>
          <a:prstGeom prst="rect">
            <a:avLst/>
          </a:prstGeom>
        </p:spPr>
      </p:pic>
      <p:sp>
        <p:nvSpPr>
          <p:cNvPr id="18" name="Student name 2"/>
          <p:cNvSpPr txBox="1"/>
          <p:nvPr/>
        </p:nvSpPr>
        <p:spPr>
          <a:xfrm>
            <a:off x="5549646" y="3259073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SAFURA TARRANUM</a:t>
            </a:r>
            <a:endParaRPr lang="en-US" sz="1800" dirty="0"/>
          </a:p>
        </p:txBody>
      </p:sp>
      <p:sp>
        <p:nvSpPr>
          <p:cNvPr id="19" name="Roll number 2"/>
          <p:cNvSpPr txBox="1"/>
          <p:nvPr/>
        </p:nvSpPr>
        <p:spPr>
          <a:xfrm>
            <a:off x="5556504" y="360197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R.No: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[2610520002]</a:t>
            </a:r>
          </a:p>
        </p:txBody>
      </p:sp>
      <p:sp>
        <p:nvSpPr>
          <p:cNvPr id="21" name="Student icon badge 1">
            <a:extLst>
              <a:ext uri="{FF2B5EF4-FFF2-40B4-BE49-F238E27FC236}">
                <a16:creationId xmlns:a16="http://schemas.microsoft.com/office/drawing/2014/main" id="{FC6C7340-7FBE-63BC-AB5D-438E40989909}"/>
              </a:ext>
            </a:extLst>
          </p:cNvPr>
          <p:cNvSpPr/>
          <p:nvPr/>
        </p:nvSpPr>
        <p:spPr>
          <a:xfrm>
            <a:off x="682752" y="4121277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udent icon 1" descr="Student icon">
            <a:extLst>
              <a:ext uri="{FF2B5EF4-FFF2-40B4-BE49-F238E27FC236}">
                <a16:creationId xmlns:a16="http://schemas.microsoft.com/office/drawing/2014/main" id="{708909AC-5445-1CE6-0514-4C8622028B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0" y="4276725"/>
            <a:ext cx="237744" cy="237744"/>
          </a:xfrm>
          <a:prstGeom prst="rect">
            <a:avLst/>
          </a:prstGeom>
        </p:spPr>
      </p:pic>
      <p:sp>
        <p:nvSpPr>
          <p:cNvPr id="27" name="Student icon badge 1">
            <a:extLst>
              <a:ext uri="{FF2B5EF4-FFF2-40B4-BE49-F238E27FC236}">
                <a16:creationId xmlns:a16="http://schemas.microsoft.com/office/drawing/2014/main" id="{B6391B1A-19D0-C4EF-2036-730CA3AF8400}"/>
              </a:ext>
            </a:extLst>
          </p:cNvPr>
          <p:cNvSpPr/>
          <p:nvPr/>
        </p:nvSpPr>
        <p:spPr>
          <a:xfrm>
            <a:off x="4838700" y="41542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Student icon 2" descr="Student icon">
            <a:extLst>
              <a:ext uri="{FF2B5EF4-FFF2-40B4-BE49-F238E27FC236}">
                <a16:creationId xmlns:a16="http://schemas.microsoft.com/office/drawing/2014/main" id="{06A99063-40A6-A941-4073-0A86244E3E4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94148" y="4321236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01 • THE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Why logs need 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Important events are easy to miss in long log files.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572768"/>
            <a:ext cx="4617720" cy="269748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1755648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1737360"/>
            <a:ext cx="4160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1965960"/>
            <a:ext cx="4160520" cy="2057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t>•  Servers and applications record events in log files.</a:t>
            </a:r>
          </a:p>
          <a:p>
            <a:pPr>
              <a:spcAft>
                <a:spcPts val="12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t>•  Messages such as “error” and “failed” can be buried in many lines.</a:t>
            </a:r>
          </a:p>
          <a:p>
            <a:pPr>
              <a:spcAft>
                <a:spcPts val="12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t>•  Manual checking takes time and may miss repeated failures.</a:t>
            </a:r>
          </a:p>
          <a:p>
            <a:pPr>
              <a:spcAft>
                <a:spcPts val="12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t>•  A lightweight Bash tool scans logs, summarizes matches, and raises an alert.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1627632"/>
            <a:ext cx="3127248" cy="2148840"/>
          </a:xfrm>
          <a:prstGeom prst="roundRect">
            <a:avLst/>
          </a:prstGeom>
          <a:solidFill>
            <a:srgbClr val="080E1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605272" y="1773936"/>
            <a:ext cx="64008" cy="64008"/>
          </a:xfrm>
          <a:prstGeom prst="ellipse">
            <a:avLst/>
          </a:prstGeom>
          <a:solidFill>
            <a:srgbClr val="F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769864" y="1773936"/>
            <a:ext cx="64008" cy="64008"/>
          </a:xfrm>
          <a:prstGeom prst="ellipse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34456" y="1773936"/>
            <a:ext cx="64008" cy="64008"/>
          </a:xfrm>
          <a:prstGeom prst="ellipse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1737360"/>
            <a:ext cx="212140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bash — terminal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1975104"/>
            <a:ext cx="2852928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3560" y="2084832"/>
            <a:ext cx="2761488" cy="1581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$ tail -n 3 app.log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INFO: service started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ERROR: disk nearly full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Failed login attempt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endParaRPr/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$ 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40680" y="3950208"/>
            <a:ext cx="3127248" cy="502920"/>
          </a:xfrm>
          <a:prstGeom prst="roundRect">
            <a:avLst/>
          </a:prstGeom>
          <a:solidFill>
            <a:srgbClr val="123032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05272" y="4087368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Goal: turn noisy logs into clear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02 • WHAT WE WANT TO ACHIEVE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A small, repeatable workflow built from standard Linux commands.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572768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173736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1691640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Read or create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1947672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A sample log file from the terminal.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18888" y="1572768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79" y="173736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5" y="1691640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Search keywords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5" y="1947672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Find “error” and “failed” using grep.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2532888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59" y="269748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2651760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Count matches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6736" y="2907792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Summarize matching entries and useful context.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18888" y="2532888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79" y="269748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7255" y="2651760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Run in background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77255" y="2907792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Use nohup for a background check.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24912" y="3657600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89504" y="3822191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3776472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Keep it simple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032504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Make the workflow repeatable and easy to demonstrate.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03 • SCOPE &amp;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Scope &amp;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Defined inputs, a small command-line interface, and clear outputs.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572768"/>
            <a:ext cx="3822191" cy="274320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" y="1755648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1737360"/>
            <a:ext cx="336499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1984248"/>
            <a:ext cx="3383280" cy="1920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Platform: Ubuntu Linux or Windows Subsystem for Linux (WSL).</a:t>
            </a:r>
          </a:p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Interface: command-line terminal; implementation in Bash.</a:t>
            </a:r>
          </a:p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Input: selected log file or a sample log created for testing.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1572768"/>
            <a:ext cx="3822191" cy="274320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73752" y="1755648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01768" y="1737360"/>
            <a:ext cx="336499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PROCESSING &amp;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84248"/>
            <a:ext cx="3383280" cy="1920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Processing: grep-based keyword search and count using wc.</a:t>
            </a:r>
          </a:p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Output: matching lines, total matches, and an alert message.</a:t>
            </a:r>
          </a:p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Tools: Bash, grep, wc, cat, chmod, and nohup.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04 • EXISTING VS PROPOSED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From manual checking to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The proposed tool makes the routine faster and more consistent.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664208"/>
            <a:ext cx="3749039" cy="26060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59" y="1847088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1828800"/>
            <a:ext cx="32918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EXISTING • 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148840"/>
            <a:ext cx="6400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E8C27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2" y="2176272"/>
            <a:ext cx="24231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2F7FA"/>
                </a:solidFill>
                <a:latin typeface="Aptos"/>
              </a:defRPr>
            </a:pPr>
            <a:r>
              <a:t>Open a log and scan line by 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880360"/>
            <a:ext cx="31546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AABCCB"/>
                </a:solidFill>
                <a:latin typeface="Aptos"/>
              </a:defRPr>
            </a:pPr>
            <a:r>
              <a:t>Repeated errors can be overlooked, and counting takes extra effort.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36592" y="1664208"/>
            <a:ext cx="3749039" cy="26060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01183" y="1847088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1828800"/>
            <a:ext cx="32918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PROPOSED • AUTOMATED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2148840"/>
            <a:ext cx="6400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78DC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2176272"/>
            <a:ext cx="22860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2F7FA"/>
                </a:solidFill>
                <a:latin typeface="Aptos"/>
              </a:defRPr>
            </a:pPr>
            <a:r>
              <a:t>Search, count, and alert.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2880360"/>
            <a:ext cx="310896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AABCCB"/>
                </a:solidFill>
                <a:latin typeface="Aptos"/>
              </a:defRPr>
            </a:pPr>
            <a:r>
              <a:t>Search selected keywords, count matches, display an alert, and optionally run with nohup.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977639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E8C273"/>
                </a:solidFill>
                <a:latin typeface="Aptos"/>
              </a:defRPr>
            </a:pPr>
            <a:r>
              <a:t>MANUAL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3977639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AUTOMATED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05 •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How the checker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From launch to review, each step has one clear purpose.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783080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1892807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1883664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2221991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Launch the menu-driven Bash script.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6312" y="2139696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61488" y="1783080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98648" y="1892807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1883664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Select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2221991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Create a sample log or choose an existing file.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8" y="2139696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01183" y="1783080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38344" y="1892807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31536" y="1883664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7488" y="2221991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Use grep for “error” and “failed”.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5703" y="2139696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79" y="1783080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78040" y="1892807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1883664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7183" y="2221991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Use wc -l to count matching lines.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" y="3081528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3191256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" y="3182112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3520440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Display matches and an alert when found.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96312" y="3438144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1488" y="3081528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898648" y="3191256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3182112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7792" y="3520440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Optionally launch with nohup.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36008" y="3438144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01183" y="3081528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38344" y="3191256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31536" y="3182112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3520440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Inspect output and exit.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28800" y="4498848"/>
            <a:ext cx="5486400" cy="9144"/>
          </a:xfrm>
          <a:prstGeom prst="round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06 • SYSTEM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Input → analysis →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A simple pipeline connects the log file to a useful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965960"/>
            <a:ext cx="2331720" cy="16916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59" y="2148840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2130552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2542032"/>
            <a:ext cx="193852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Log file path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Menu choice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Keywords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4096" y="2578608"/>
            <a:ext cx="38404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11296" y="1965960"/>
            <a:ext cx="2331720" cy="16916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75887" y="2148840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03904" y="2130552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2463" y="2542032"/>
            <a:ext cx="193852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Check file exists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Search with grep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Count with wc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7024" y="2578608"/>
            <a:ext cx="38404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4224" y="1965960"/>
            <a:ext cx="2331720" cy="16916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28816" y="2148840"/>
            <a:ext cx="36576" cy="228600"/>
          </a:xfrm>
          <a:prstGeom prst="rect">
            <a:avLst/>
          </a:prstGeom>
          <a:solidFill>
            <a:srgbClr val="7DB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56832" y="2130552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DB9F5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542032"/>
            <a:ext cx="193852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Matched lines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Total count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Alert / output 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069080"/>
            <a:ext cx="70408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AABCCB"/>
                </a:solidFill>
                <a:latin typeface="Aptos"/>
              </a:defRPr>
            </a:pPr>
            <a:r>
              <a:t>Decision point: if the match count is greater than zero, display an alert.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07 • COMMANDS THAT POWER THE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Core Linux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Each command has a focused role in the log-analysis workflow.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1481328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1572768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1545336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grep -iE 'error|failed' app.log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1554480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Find either keyword, case-insensitively.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1993392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2084832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2057400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grep -iE 'error|failed' app.log | wc -l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2066544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Count matching lines.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2505456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2596896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2569464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cat app.log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578608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Display a log file.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017520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3108960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PERMISSION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081528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chmod +x log_analyzer.sh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3090672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Allow the script to execute.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529584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3621024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3593592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nohup ./log_analyzer.sh &gt; analyzer.out 2&gt;&amp;1 &amp;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3602736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Run in background and save output.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041648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4133087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4105656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case ... esac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4114800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Implement a clear terminal menu.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35240" y="1143000"/>
            <a:ext cx="3794760" cy="4389120"/>
          </a:xfrm>
          <a:prstGeom prst="roundRect">
            <a:avLst/>
          </a:prstGeom>
          <a:solidFill>
            <a:srgbClr val="141D2D"/>
          </a:solidFill>
          <a:ln w="15240">
            <a:solidFill>
              <a:srgbClr val="31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35240" y="1143000"/>
            <a:ext cx="3794760" cy="475488"/>
          </a:xfrm>
          <a:prstGeom prst="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82127" y="1298448"/>
            <a:ext cx="100584" cy="10058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110727" y="1298448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39327" y="1298448"/>
            <a:ext cx="100584" cy="1005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36992" y="196596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5EEAD4"/>
                </a:solidFill>
                <a:latin typeface="Consolas"/>
              </a:defRPr>
            </a:pPr>
            <a:r>
              <a:rPr dirty="0"/>
              <a:t>$ ./log_analyzer.sh</a:t>
            </a:r>
          </a:p>
          <a:p>
            <a:pPr>
              <a:spcAft>
                <a:spcPts val="400"/>
              </a:spcAft>
              <a:defRPr sz="1200" b="0">
                <a:solidFill>
                  <a:srgbClr val="DCE6F0"/>
                </a:solidFill>
                <a:latin typeface="Consolas"/>
              </a:defRPr>
            </a:pPr>
            <a:endParaRPr dirty="0"/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1. Create sample log</a:t>
            </a:r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2. View log file</a:t>
            </a:r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3. Search &amp; count errors</a:t>
            </a:r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4. Background check</a:t>
            </a:r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5. Exit</a:t>
            </a:r>
          </a:p>
          <a:p>
            <a:pPr>
              <a:spcAft>
                <a:spcPts val="400"/>
              </a:spcAft>
              <a:defRPr sz="1200" b="0">
                <a:solidFill>
                  <a:srgbClr val="DCE6F0"/>
                </a:solidFill>
                <a:latin typeface="Consolas"/>
              </a:defRPr>
            </a:pPr>
            <a:endParaRPr dirty="0"/>
          </a:p>
          <a:p>
            <a:pPr>
              <a:spcAft>
                <a:spcPts val="1000"/>
              </a:spcAft>
              <a:defRPr sz="1500" b="1">
                <a:solidFill>
                  <a:srgbClr val="5EEAD4"/>
                </a:solidFill>
                <a:latin typeface="Consolas"/>
              </a:defRPr>
            </a:pPr>
            <a:r>
              <a:rPr dirty="0"/>
              <a:t>Ready for live demo...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" y="342900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EEAD4"/>
                </a:solidFill>
                <a:latin typeface="Aptos"/>
              </a:defRPr>
            </a:pPr>
            <a:r>
              <a:rPr dirty="0"/>
              <a:t>BASHX  /  LINUX SYSTEMS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6492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LIVE PROJECT</a:t>
            </a:r>
          </a:p>
          <a:p>
            <a:pPr>
              <a:defRPr sz="3400" b="1">
                <a:solidFill>
                  <a:srgbClr val="5EEAD4"/>
                </a:solidFill>
                <a:latin typeface="Aptos Display"/>
              </a:defRPr>
            </a:pPr>
            <a:r>
              <a:rPr dirty="0"/>
              <a:t>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435304"/>
            <a:ext cx="7315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BE3EE"/>
                </a:solidFill>
                <a:latin typeface="Aptos"/>
              </a:defRPr>
            </a:pPr>
            <a:r>
              <a:rPr dirty="0"/>
              <a:t>Now, we’ll switch to Ubuntu and show our Bash script in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3987284"/>
            <a:ext cx="1783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rPr dirty="0"/>
              <a:t>01</a:t>
            </a:r>
          </a:p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Run the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3179" y="4035028"/>
            <a:ext cx="1965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rPr dirty="0"/>
              <a:t>02</a:t>
            </a:r>
          </a:p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Search log entries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70" y="396240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t>03</a:t>
            </a:r>
          </a:p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Show the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9DB1"/>
                </a:solidFill>
                <a:latin typeface="Aptos"/>
              </a:defRPr>
            </a:pPr>
            <a:r>
              <a:t>Automated Log Analysis and Error Alert System Using Bash Shell Scripting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15 • WRAP-UP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Next steps &amp; 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A practical starting point for repeatable log inspection.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1627632"/>
            <a:ext cx="3703320" cy="25603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7824" y="1810512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1792224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194560"/>
            <a:ext cx="306324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F2F7FA"/>
                </a:solidFill>
                <a:latin typeface="Aptos"/>
              </a:defRPr>
            </a:pPr>
            <a:r>
              <a:t>Bash combines grep, wc, conditions, menus and nohup to make log checks repeatable.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27448" y="1627632"/>
            <a:ext cx="3703320" cy="25603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92040" y="1810512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0056" y="1792224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2057400"/>
            <a:ext cx="3063240" cy="1874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Timestamped reports</a:t>
            </a:r>
          </a:p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Cron scheduling</a:t>
            </a:r>
          </a:p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Configurable keywords</a:t>
            </a:r>
          </a:p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Log rotation support</a:t>
            </a:r>
          </a:p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Email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6" y="260096"/>
            <a:ext cx="72237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rPr sz="1400" dirty="0"/>
              <a:t>13 • TEAM CONTRIBUTIONS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Team BASHX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Two contributors working across implementation, testing, and documentation.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" y="1847088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2" y="1839812"/>
            <a:ext cx="3291838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rPr lang="en-US" sz="1600" dirty="0"/>
              <a:t>  S</a:t>
            </a:r>
            <a:r>
              <a:rPr sz="1600" dirty="0"/>
              <a:t>AFA</a:t>
            </a:r>
            <a:r>
              <a:rPr lang="en-US" sz="1600" dirty="0"/>
              <a:t>  SABER</a:t>
            </a:r>
            <a:endParaRPr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941832" y="2121408"/>
            <a:ext cx="658368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3100" b="1" i="0">
                <a:solidFill>
                  <a:srgbClr val="78DC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2167128"/>
            <a:ext cx="228600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2F7FA"/>
                </a:solidFill>
                <a:latin typeface="Aptos"/>
              </a:defRPr>
            </a:pPr>
            <a:r>
              <a:rPr dirty="0"/>
              <a:t>Project </a:t>
            </a:r>
            <a:r>
              <a:rPr lang="en-US" dirty="0"/>
              <a:t>flow,</a:t>
            </a:r>
            <a:r>
              <a:rPr dirty="0"/>
              <a:t> </a:t>
            </a:r>
            <a:r>
              <a:rPr lang="en-US" dirty="0"/>
              <a:t>presentation and documentation.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987552" y="3063240"/>
            <a:ext cx="306324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rPr lang="en-US" dirty="0"/>
              <a:t>INTRO AND EXPLAINATION.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4727448" y="1664208"/>
            <a:ext cx="3703320" cy="251460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4892040" y="1847088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0056" y="1828800"/>
            <a:ext cx="324612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rPr sz="1600" dirty="0"/>
              <a:t>SAF</a:t>
            </a:r>
            <a:r>
              <a:rPr lang="en-US" sz="1600" dirty="0"/>
              <a:t>FURA TARRANUM</a:t>
            </a:r>
            <a:endParaRPr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4956048" y="2121408"/>
            <a:ext cx="658368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3100" b="1" i="0">
                <a:solidFill>
                  <a:srgbClr val="E8C2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7296" y="2167128"/>
            <a:ext cx="214884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2F7FA"/>
                </a:solidFill>
                <a:latin typeface="Aptos"/>
              </a:defRPr>
            </a:pPr>
            <a:r>
              <a:rPr lang="en-US" dirty="0"/>
              <a:t>Analysis and project execution .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5001768" y="3063240"/>
            <a:ext cx="306324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rPr lang="en-US" dirty="0"/>
              <a:t>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54864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233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9807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953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6400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5544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4688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3832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2976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292608"/>
            <a:ext cx="2194560" cy="219456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0" y="731520"/>
            <a:ext cx="1280160" cy="1280160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30894"/>
            <a:ext cx="5943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rPr dirty="0"/>
              <a:t>BASHX  /  LINUX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2" y="713233"/>
            <a:ext cx="8000998" cy="12449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300"/>
              </a:spcAft>
              <a:defRPr sz="3800" b="1" i="0">
                <a:solidFill>
                  <a:srgbClr val="F2F7FA"/>
                </a:solidFill>
                <a:latin typeface="Aptos"/>
              </a:defRPr>
            </a:pPr>
            <a:r>
              <a:rPr dirty="0"/>
              <a:t>Thank You</a:t>
            </a:r>
            <a:r>
              <a:rPr lang="en-US" dirty="0"/>
              <a:t> ! </a:t>
            </a:r>
          </a:p>
          <a:p>
            <a:pPr>
              <a:spcAft>
                <a:spcPts val="300"/>
              </a:spcAft>
              <a:defRPr sz="3800" b="1" i="0">
                <a:solidFill>
                  <a:srgbClr val="F2F7FA"/>
                </a:solidFill>
                <a:latin typeface="Aptos"/>
              </a:defRPr>
            </a:pPr>
            <a:r>
              <a:rPr lang="en-US" dirty="0"/>
              <a:t>Questions? comments? concerns?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331720"/>
            <a:ext cx="6035040" cy="5986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AABCCB"/>
                </a:solidFill>
                <a:latin typeface="Aptos"/>
              </a:defRPr>
            </a:pPr>
            <a:r>
              <a:rPr lang="en-US" dirty="0"/>
              <a:t> Done with :</a:t>
            </a:r>
            <a:r>
              <a:rPr dirty="0"/>
              <a:t>Automated Log Analysis and Error Alert System</a:t>
            </a:r>
          </a:p>
          <a:p>
            <a:pPr algn="l">
              <a:spcAft>
                <a:spcPts val="300"/>
              </a:spcAft>
              <a:defRPr sz="1700" b="0" i="0">
                <a:solidFill>
                  <a:srgbClr val="AABCCB"/>
                </a:solidFill>
                <a:latin typeface="Aptos"/>
              </a:defRPr>
            </a:pPr>
            <a:r>
              <a:rPr dirty="0"/>
              <a:t>Using Bash Shell Scripting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411482" y="3493008"/>
            <a:ext cx="3528058" cy="493776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3566160"/>
            <a:ext cx="38862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rPr sz="1400" dirty="0"/>
              <a:t>SAFA SABER   •   SAFURA TARRANUM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2856" y="3102434"/>
            <a:ext cx="6708644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300"/>
              </a:spcAft>
              <a:defRPr sz="900" b="1" i="0">
                <a:solidFill>
                  <a:srgbClr val="AABCCB"/>
                </a:solidFill>
                <a:latin typeface="Aptos"/>
              </a:defRPr>
            </a:pPr>
            <a:r>
              <a:rPr lang="en-US" sz="2000" dirty="0"/>
              <a:t>BASHX  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09160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502</TotalTime>
  <Words>1039</Words>
  <Application>Microsoft Office PowerPoint</Application>
  <PresentationFormat>On-screen Show (16:9)</PresentationFormat>
  <Paragraphs>215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Neue Haas Grotesk Text Pro</vt:lpstr>
      <vt:lpstr>Dune</vt:lpstr>
      <vt:lpstr>Automated Log Analysis and Error Alert System Using Bash Shell Scripting 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 Slide Template</dc:title>
  <dc:subject>PptxGenJS Presentation</dc:subject>
  <dc:creator>PptxGenJS</dc:creator>
  <cp:lastModifiedBy>safa saber</cp:lastModifiedBy>
  <cp:revision>12</cp:revision>
  <dcterms:created xsi:type="dcterms:W3CDTF">2026-10-09T09:20:33Z</dcterms:created>
  <dcterms:modified xsi:type="dcterms:W3CDTF">2026-10-12T17:51:13Z</dcterms:modified>
</cp:coreProperties>
</file>